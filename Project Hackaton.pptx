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66" r:id="rId4"/>
    <p:sldId id="265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58" r:id="rId13"/>
    <p:sldId id="259" r:id="rId14"/>
    <p:sldId id="260" r:id="rId15"/>
    <p:sldId id="261" r:id="rId16"/>
    <p:sldId id="262" r:id="rId17"/>
    <p:sldId id="274" r:id="rId18"/>
    <p:sldId id="26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LLM-Based Credit Risk 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r>
              <a:t>Track 2: AI Credit Scoring System – Project Overview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6E80514-39BE-7B78-0BC0-85A14E3F9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59420">
            <a:off x="6024453" y="889414"/>
            <a:ext cx="2845457" cy="1243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29CCC07-39E4-BF33-62F8-5D16987BE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4986338"/>
            <a:ext cx="2857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73B63B-FFBF-094D-8B72-6DBB70B2D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C3A0-0A79-F2AD-AC3D-FD5AFB8C5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1813"/>
            <a:ext cx="8229600" cy="1143000"/>
          </a:xfrm>
        </p:spPr>
        <p:txBody>
          <a:bodyPr>
            <a:normAutofit/>
          </a:bodyPr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rPr lang="en-MY" dirty="0"/>
              <a:t>Problem</a:t>
            </a:r>
            <a:endParaRPr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5E79A61-9CAD-DC4A-5EA2-EEF9CE69C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85937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How can a reliable and transparent LLM-based risk assessment method evaluate credit risk in AI-driven credit scoring systems? </a:t>
            </a:r>
            <a:br>
              <a:rPr lang="en-US" dirty="0">
                <a:solidFill>
                  <a:schemeClr val="bg1"/>
                </a:solidFill>
              </a:rPr>
            </a:br>
            <a:endParaRPr lang="en-MY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9D9AB3-256D-302B-D889-04D0B572D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86" y="3700462"/>
            <a:ext cx="2329340" cy="208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842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DA9F10-7149-973A-EF3C-55B0897C9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21CFD-D651-1C16-E8B7-09882FDED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1813"/>
            <a:ext cx="8229600" cy="1143000"/>
          </a:xfrm>
        </p:spPr>
        <p:txBody>
          <a:bodyPr>
            <a:normAutofit/>
          </a:bodyPr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rPr lang="en-MY" dirty="0"/>
              <a:t>Solution</a:t>
            </a:r>
            <a:endParaRPr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1DBDFE9-4CD4-A741-7388-7DDAFF813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85937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Build a prototype using a Large Language Model (LLM) that assesses credit risk for individuals or businesses. </a:t>
            </a:r>
            <a:br>
              <a:rPr lang="en-US" dirty="0"/>
            </a:br>
            <a:endParaRPr lang="en-MY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38424-DA24-F018-C5DF-3C90CF409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599" y="3086099"/>
            <a:ext cx="4550569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695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CC3022-5AEE-9E0C-F936-D292056C4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26D72-E9D8-6181-525F-1B0B1F2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1813"/>
            <a:ext cx="8229600" cy="1143000"/>
          </a:xfrm>
        </p:spPr>
        <p:txBody>
          <a:bodyPr>
            <a:normAutofit/>
          </a:bodyPr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rPr lang="en-MY" dirty="0"/>
              <a:t>Target Users</a:t>
            </a:r>
            <a:endParaRPr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E90EE4-7919-9E8B-F724-F40DC97CB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85937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Individuals						Companies</a:t>
            </a:r>
            <a:r>
              <a:rPr lang="en-MY" dirty="0">
                <a:solidFill>
                  <a:schemeClr val="bg1"/>
                </a:solidFill>
              </a:rPr>
              <a:t>/B</a:t>
            </a:r>
            <a:r>
              <a:rPr lang="en-US" dirty="0" err="1">
                <a:solidFill>
                  <a:schemeClr val="bg1"/>
                </a:solidFill>
              </a:rPr>
              <a:t>usinesses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83171A-4F4C-8E4A-0C91-76E8784BB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2886074"/>
            <a:ext cx="2171700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E85427-DD5B-E1E2-58F1-F5D91D654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563" y="2886074"/>
            <a:ext cx="21717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15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1E0715-A810-7A47-92A4-514EF07C0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C954E-C283-7985-79F8-E0F8C097B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1813"/>
            <a:ext cx="8229600" cy="1143000"/>
          </a:xfrm>
        </p:spPr>
        <p:txBody>
          <a:bodyPr>
            <a:normAutofit/>
          </a:bodyPr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rPr lang="en-MY" dirty="0"/>
              <a:t>Diagram of components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94BEF4-B5E0-0EA5-7168-032AD06A89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7363" y="1556869"/>
            <a:ext cx="5667655" cy="490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053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91E69D-A545-A791-D684-8170350C7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B6C13-154E-F162-1AAF-D1024ACB9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17500"/>
            <a:ext cx="8229600" cy="1143000"/>
          </a:xfrm>
        </p:spPr>
        <p:txBody>
          <a:bodyPr>
            <a:normAutofit/>
          </a:bodyPr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rPr lang="en-MY" dirty="0"/>
              <a:t>Data Flow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79B821-8327-808A-A695-2AD33AF2B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MY" dirty="0">
                <a:solidFill>
                  <a:schemeClr val="bg1"/>
                </a:solidFill>
              </a:rPr>
              <a:t>Boxes in blue = UI (User Interface)</a:t>
            </a:r>
            <a:br>
              <a:rPr lang="en-MY" dirty="0">
                <a:solidFill>
                  <a:schemeClr val="bg1"/>
                </a:solidFill>
              </a:rPr>
            </a:br>
            <a:r>
              <a:rPr lang="en-MY" dirty="0">
                <a:solidFill>
                  <a:schemeClr val="bg1"/>
                </a:solidFill>
              </a:rPr>
              <a:t>Boxes in yellow = process of programs</a:t>
            </a:r>
            <a:br>
              <a:rPr lang="en-MY" dirty="0">
                <a:solidFill>
                  <a:schemeClr val="bg1"/>
                </a:solidFill>
              </a:rPr>
            </a:br>
            <a:endParaRPr lang="en-MY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3BBD01-195A-DEC8-884F-FED1EE9E2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1" y="2430567"/>
            <a:ext cx="4757737" cy="423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59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C4DECB-F2A6-628D-3C2A-B6EC8F92D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30F2E-CB4B-755B-D38D-938A31339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17500"/>
            <a:ext cx="8229600" cy="1143000"/>
          </a:xfrm>
        </p:spPr>
        <p:txBody>
          <a:bodyPr>
            <a:normAutofit/>
          </a:bodyPr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rPr lang="en-MY" dirty="0"/>
              <a:t>Main Function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405DC6-0EE4-9DDE-6C07-D4072BF33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10425"/>
            <a:ext cx="8229600" cy="361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17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0B8ECD-E8DB-9937-CC48-EA82AD84F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8CB09-F0EF-77A0-FA86-E6683C6F9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17500"/>
            <a:ext cx="8229600" cy="1143000"/>
          </a:xfrm>
        </p:spPr>
        <p:txBody>
          <a:bodyPr>
            <a:normAutofit/>
          </a:bodyPr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rPr lang="en-MY" dirty="0"/>
              <a:t>Main Function</a:t>
            </a:r>
            <a:endParaRPr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FCE8276-7284-2E5D-1456-15677D8DAF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53312"/>
            <a:ext cx="8229600" cy="361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388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21E8A2-5300-DF8B-819E-1A5C952A2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15BDF-B3D0-F307-84F0-9DF9D6AA2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17500"/>
            <a:ext cx="8229600" cy="1143000"/>
          </a:xfrm>
        </p:spPr>
        <p:txBody>
          <a:bodyPr>
            <a:normAutofit/>
          </a:bodyPr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rPr lang="en-MY" dirty="0"/>
              <a:t>Main Function</a:t>
            </a:r>
            <a:endParaRPr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0232451-5AEC-F748-78F4-0F17C88D7B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56527"/>
            <a:ext cx="8229600" cy="361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65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10F8BC-406A-12B1-23A0-343E5E7A4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EA62B-094D-4A88-BBF4-580283F40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17500"/>
            <a:ext cx="8229600" cy="1143000"/>
          </a:xfrm>
        </p:spPr>
        <p:txBody>
          <a:bodyPr>
            <a:normAutofit/>
          </a:bodyPr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rPr lang="en-MY" dirty="0"/>
              <a:t>Main Function</a:t>
            </a:r>
            <a:endParaRPr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6FF01D6-D1AD-AD23-0019-5D9B898A59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59742"/>
            <a:ext cx="8229600" cy="360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160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EE4E19-C830-8224-6623-4CEB01826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E45CA-D474-FB87-5DF4-1A7459C6B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74938"/>
            <a:ext cx="8229600" cy="1143000"/>
          </a:xfrm>
        </p:spPr>
        <p:txBody>
          <a:bodyPr>
            <a:normAutofit/>
          </a:bodyPr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rPr lang="en-MY" dirty="0"/>
              <a:t>Does this helps the society?</a:t>
            </a:r>
            <a:endParaRPr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73D483B-81A7-3257-337B-377D8E5F3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538" y="4086225"/>
            <a:ext cx="458724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E92CA480-374F-C648-89EE-63CB59424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1463"/>
            <a:ext cx="3128963" cy="2346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3449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rPr dirty="0"/>
              <a:t>1. Improved Credit Decision-Making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9213"/>
          </a:xfrm>
        </p:spPr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r>
              <a:rPr lang="en-US" sz="3600" b="1" u="sng" dirty="0"/>
              <a:t>Combines structured + unstructured data</a:t>
            </a:r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endParaRPr lang="en-US" sz="2800" dirty="0"/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endParaRPr lang="en-US" sz="2800" dirty="0"/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endParaRPr lang="en-US" sz="2800" dirty="0"/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endParaRPr lang="en-US" sz="2800" dirty="0"/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r>
              <a:rPr lang="en-US" sz="2800" dirty="0"/>
              <a:t>Captures behavioral and textual risk factors</a:t>
            </a:r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endParaRPr lang="en-US" sz="2800" dirty="0"/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endParaRPr lang="en-US" sz="2800" dirty="0"/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r>
              <a:rPr lang="en-US" sz="2800" dirty="0"/>
              <a:t>Reduces false approvals / unnecessary rejections</a:t>
            </a:r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endParaRPr sz="240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3BED30D-A40E-8B21-8CC0-A400AE9CD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2" y="2300288"/>
            <a:ext cx="2743200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CC34E5-FE54-A443-7919-425F6618E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706" y="2300288"/>
            <a:ext cx="1494632" cy="14946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758CF8-7509-96A3-FFD4-4B24CC8D4E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91523">
            <a:off x="7360545" y="5224513"/>
            <a:ext cx="1640616" cy="8584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2. Effective Use of Text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r>
              <a:rPr sz="3600" b="1" u="sng" dirty="0"/>
              <a:t>LLM extracts sentiment and risk signals</a:t>
            </a:r>
            <a:br>
              <a:rPr lang="en-MY" sz="3600" dirty="0"/>
            </a:br>
            <a:endParaRPr lang="en-MY" sz="3600" dirty="0"/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endParaRPr lang="en-MY" sz="3600" dirty="0"/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r>
              <a:rPr sz="2800" dirty="0"/>
              <a:t>Text is converted into useful risk features</a:t>
            </a:r>
            <a:endParaRPr lang="en-MY" sz="2800" dirty="0"/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endParaRPr lang="en-MY" sz="2800" dirty="0"/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endParaRPr lang="en-MY" sz="2800" dirty="0"/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r>
              <a:rPr sz="2800" dirty="0"/>
              <a:t>More holistic and accurate predictions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CCB790-EA2E-1051-3FB5-2F5698F89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692" y="2271712"/>
            <a:ext cx="1560196" cy="1300163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83F41A5E-0C2F-45E4-0D8E-DF542C4B8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863" y="5000625"/>
            <a:ext cx="161925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3. Human Interpretability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r>
              <a:rPr sz="3600" b="1" u="sng" dirty="0"/>
              <a:t>Clear explanations generated by LLM</a:t>
            </a:r>
            <a:endParaRPr lang="en-MY" sz="3600" b="1" u="sng" dirty="0"/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endParaRPr lang="en-MY" dirty="0"/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endParaRPr lang="en-MY" dirty="0"/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r>
              <a:rPr sz="2800" dirty="0"/>
              <a:t>Highlighting important text cues</a:t>
            </a:r>
            <a:endParaRPr lang="en-MY" sz="2800" dirty="0"/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endParaRPr lang="en-MY" sz="2800" dirty="0"/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endParaRPr lang="en-MY" sz="2800" dirty="0"/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r>
              <a:rPr sz="2800" dirty="0"/>
              <a:t>Display</a:t>
            </a:r>
            <a:r>
              <a:rPr lang="en-MY" sz="2800" dirty="0"/>
              <a:t> various </a:t>
            </a:r>
            <a:r>
              <a:rPr lang="en-US" altLang="zh-CN" sz="2800" dirty="0"/>
              <a:t>important data </a:t>
            </a:r>
            <a:endParaRPr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C25FEA-0913-DC71-C04D-659E60383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238" y="4857750"/>
            <a:ext cx="257175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4. Dashboard Clarity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r>
              <a:rPr sz="3600" b="1" u="sng" dirty="0"/>
              <a:t>Clean UI with risk score visualization</a:t>
            </a:r>
            <a:endParaRPr lang="en-MY" sz="3600" b="1" u="sng" dirty="0"/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endParaRPr lang="en-MY" dirty="0"/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r>
              <a:rPr sz="2800" dirty="0"/>
              <a:t>Side-by-side structured + text insights</a:t>
            </a:r>
            <a:endParaRPr lang="en-MY" sz="2800" dirty="0"/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endParaRPr lang="en-MY" sz="2800" dirty="0"/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endParaRPr lang="en-MY" sz="2800" dirty="0"/>
          </a:p>
          <a:p>
            <a:pPr marL="0" indent="0">
              <a:buNone/>
              <a:defRPr sz="2000">
                <a:solidFill>
                  <a:srgbClr val="DCDCDC"/>
                </a:solidFill>
              </a:defRPr>
            </a:pPr>
            <a:r>
              <a:rPr sz="2800" dirty="0"/>
              <a:t>Downloadable reports and workflow integration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59355D-9B35-E64D-90BE-209A17BD9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582" y="2271712"/>
            <a:ext cx="2567992" cy="1711326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982C3A3A-5D2E-63A9-A3C3-DA1F2F1F5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825" y="4976813"/>
            <a:ext cx="451485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r>
              <a:rPr dirty="0"/>
              <a:t>The LLM-based system provides:</a:t>
            </a:r>
          </a:p>
          <a:p>
            <a:pPr lvl="1">
              <a:defRPr>
                <a:solidFill>
                  <a:srgbClr val="DCDCDC"/>
                </a:solidFill>
              </a:defRPr>
            </a:pPr>
            <a:r>
              <a:rPr dirty="0"/>
              <a:t>More accurate credit scoring</a:t>
            </a:r>
          </a:p>
          <a:p>
            <a:pPr lvl="1">
              <a:defRPr>
                <a:solidFill>
                  <a:srgbClr val="DCDCDC"/>
                </a:solidFill>
              </a:defRPr>
            </a:pPr>
            <a:r>
              <a:rPr dirty="0"/>
              <a:t>Transparent explanations for regulatory compliance</a:t>
            </a:r>
          </a:p>
          <a:p>
            <a:pPr lvl="1">
              <a:defRPr>
                <a:solidFill>
                  <a:srgbClr val="DCDCDC"/>
                </a:solidFill>
              </a:defRPr>
            </a:pPr>
            <a:r>
              <a:rPr dirty="0"/>
              <a:t>A user-friendly dashboard for loan officers</a:t>
            </a:r>
          </a:p>
          <a:p>
            <a:pPr lvl="1">
              <a:defRPr>
                <a:solidFill>
                  <a:srgbClr val="DCDCDC"/>
                </a:solidFill>
              </a:defRPr>
            </a:pPr>
            <a:r>
              <a:rPr dirty="0"/>
              <a:t>A future-ready approach to financial risk assessment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DAFBA4-3D23-A75F-5075-F4FDD2866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C5282-0583-E1CC-52CB-70A9A806D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MY" dirty="0"/>
              <a:t>Further Improvements (In the future)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E3F09-F3B6-A03B-0D93-48092149D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  <a:defRPr>
                <a:solidFill>
                  <a:srgbClr val="DCDCDC"/>
                </a:solidFill>
              </a:defRPr>
            </a:pPr>
            <a:r>
              <a:rPr lang="en-MY" dirty="0"/>
              <a:t>Automated Chatbot with client to fact check more efficiently</a:t>
            </a:r>
          </a:p>
          <a:p>
            <a:pPr marL="514350" indent="-514350">
              <a:buAutoNum type="arabicParenR"/>
              <a:defRPr>
                <a:solidFill>
                  <a:srgbClr val="DCDCDC"/>
                </a:solidFill>
              </a:defRPr>
            </a:pPr>
            <a:r>
              <a:rPr lang="en-US" altLang="zh-CN" dirty="0"/>
              <a:t>Marked ‘Solved” for resolved case studies back at UI</a:t>
            </a:r>
          </a:p>
          <a:p>
            <a:pPr marL="0" indent="0">
              <a:buNone/>
              <a:defRPr>
                <a:solidFill>
                  <a:srgbClr val="DCDCDC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118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F49F55-A35D-D90A-5F9E-5193152C1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E7D2AE-F0DC-8F51-C8DB-66A59053E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6" y="560387"/>
            <a:ext cx="8482013" cy="5654675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1D40F1F-FF94-6C8C-2461-355BD5E8C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14724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247</Words>
  <Application>Microsoft Office PowerPoint</Application>
  <PresentationFormat>On-screen Show (4:3)</PresentationFormat>
  <Paragraphs>57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LLM-Based Credit Risk Assessment</vt:lpstr>
      <vt:lpstr>Problem</vt:lpstr>
      <vt:lpstr>Solution</vt:lpstr>
      <vt:lpstr>Target Users</vt:lpstr>
      <vt:lpstr>Diagram of components</vt:lpstr>
      <vt:lpstr>Data Flow</vt:lpstr>
      <vt:lpstr>Main Function</vt:lpstr>
      <vt:lpstr>Main Function</vt:lpstr>
      <vt:lpstr>Main Function</vt:lpstr>
      <vt:lpstr>Main Function</vt:lpstr>
      <vt:lpstr>Does this helps the society?</vt:lpstr>
      <vt:lpstr>1. Improved Credit Decision-Making</vt:lpstr>
      <vt:lpstr>2. Effective Use of Text Data</vt:lpstr>
      <vt:lpstr>3. Human Interpretability</vt:lpstr>
      <vt:lpstr>4. Dashboard Clarity</vt:lpstr>
      <vt:lpstr>Conclusion</vt:lpstr>
      <vt:lpstr>Further Improvements (In the future)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Jee Heng</cp:lastModifiedBy>
  <cp:revision>4</cp:revision>
  <dcterms:created xsi:type="dcterms:W3CDTF">2013-01-27T09:14:16Z</dcterms:created>
  <dcterms:modified xsi:type="dcterms:W3CDTF">2025-11-27T12:54:44Z</dcterms:modified>
  <cp:category/>
</cp:coreProperties>
</file>